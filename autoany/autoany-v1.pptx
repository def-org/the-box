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9881C98-64A3-4848-BFE0-42ED3E86D2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Migração dos robôs do Automation Anywhere 360 para o Power Automate Desktop, liderada pela TCS para o Itaú. Fonte: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Meta: o máximo de robôs em produção no PAD até a 1ª semana de jan/2027. Robôs DEV acessam dados produtivos e não podem ser descartados automaticamente. A contagem separa processo, fluxo, subfluxo e componente compartilhado. Fonte: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Migrador construído do zero com Claude Code. Subfluxos compartilhados são convertidos primeiro. Artefatos por robô: inventário e grafo, ficha técnica, complexidade e rota, doc, diagrama, casos de teste, script Robin e relatório de lacunas. Fonte: Diagrama do pipeline (RFC-001);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Diagrama: Pipeline de migração AA360 → PAD. Exceções: erro no validador volta ao converter-robo até 2 vezes e depois vira pendência humana; defeito em HML volta ao ajuste do Robin; correções humanas alimentam a curadoria das skills. Fonte: Diagrama do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Diagrama: Fluxo App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Transição entre os diagramas (pipeline e Fluxo App Base) e a leitura prática do fluxo de um robô típico de complexidade média. Fonte: Diagrama do pipeline; conversa 'metas de produtividade'.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Leitura prática do Fluxo App Base (slide anterior), um robô típico de complexidade média com integrações de banco de dados, raspagem de tela, file server e API. Meta de esforço total para complexidade média: 8–12h por robô, incluindo doc, conversão, QA, HML, deploy e integração em ambiente funcional; cerca de 70% do parque, segundo estimativa. Na 1ª onda, dados, compartilhamentos e integrações on-premises continuam onde estão, e os runners seguem em VMs on-premises. 1) A extração levanta dependências, subfluxos e integrações. 2) O dono do processo aprova a doc e os casos de teste antes da conversão. 3) A conversão é 1x1: cada ação PAD leva o ID da ação AA de origem; o que não tem equivalente seguro é marcado como TODO/REVISAR. 4) O fluxo chama a API/CLI do cofre do Itaú no início da execução. 5) O validador confere os pares AA → PAD e o dev ajusta TODOs e seletores em DEV. 6) Os testes são feitos em HML, em DEV se não houver HML, ou por execução assistida; o AA fica com a agenda desativada até o go-live definitivo. Fontes: Diagrama do pipeline; Kick-off; decisões do arquiteto; conversa 'metas de produtividade'.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Portões: triagem e rota (arquiteto e áreas); aprovação da doc (dono do processo); ajuste do Robin (dev); trilha complexa só por exceção, quando o ajuste passa de 2 dias (dev sênior); testes em HML (áreas e QA); deploy e hypercare (release e operação). Fonte: Diagrama do pipeline;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Credenciais do Credential Vault do AA360 migram para o cofre corporativo do Itaú, que aceita todos os tipos. Azure Key Vault apenas para conexões do Power Automate Cloud onde o cofre do Itaú não puder ser usado. Antes do go-live, a versão do Robin em cada ambiente é registrada e conferida contra DEV. Fonte: decisões do arquiteto.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 AA a licença é por usuário/runner; Unattended Runner = 1 execução simultânea. Process: 1 fluxo por vez por robô/máquina. Quantidade de licenças Process a partir dos exports do Control Room (execuções dos últimos 90 dias). Uso de Process em vez de Hosted Process na 1ª onda ainda a confirmar. Fonte: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Muitos legados não têm DEV/HML segregados. A execução assistida em produção vale só para a pequena parcela que não pode ser testada ponta a ponta: massa de dados identificada, janela combinada com a área e acompanhamento do analista do Itaú e do time TCS. Sem rollback automático; correção manual sob responsabilidade do analista do Itaú. Durante a execução assistida a agenda AA fica desativada com a licença ativa; licença e runner só são liberados após o go-live definitivo. Fonte: decisões do arquiteto.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Todas as faixas passam pelo pipeline comum; a trilha complexa (dev sênior) entra só por exceção, quando o ajuste passa de 2 dias. Fonte: conversa 'metas de produtividade'.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Priorização proposta: ordenar as ondas pelo maior número de licenças AA liberadas por hora de esforço; o plano detalhado depende dos exports do Control Room e dos custos por tipo de licença. Time base: 1 tech lead, 1 dev e 1 QA, escalado com a entrada de devs (até 2 QAs). Fonte: Kick-off; conversa 'metas de produtividade'.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Image 0" descr="/mnt/data/base-img.png"/>
          <p:cNvPicPr/>
          <p:nvPr/>
        </p:nvPicPr>
        <p:blipFill>
          <a:blip r:embed="rId2"/>
          <a:srcRect l="0" t="7812" r="0" b="7812"/>
          <a:stretch/>
        </p:blipFill>
        <p:spPr>
          <a:xfrm>
            <a:off x="0" y="0"/>
            <a:ext cx="1219032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393120" y="4782240"/>
            <a:ext cx="8091000" cy="1690200"/>
          </a:xfrm>
          <a:prstGeom prst="roundRect">
            <a:avLst>
              <a:gd name="adj" fmla="val 8108"/>
            </a:avLst>
          </a:prstGeom>
          <a:solidFill>
            <a:srgbClr val="08142C">
              <a:alpha val="91000"/>
            </a:srgbClr>
          </a:solidFill>
          <a:ln w="12700">
            <a:solidFill>
              <a:srgbClr val="08142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393120" y="4782240"/>
            <a:ext cx="71640" cy="1690200"/>
          </a:xfrm>
          <a:prstGeom prst="rect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393120" y="5824800"/>
            <a:ext cx="71640" cy="647640"/>
          </a:xfrm>
          <a:prstGeom prst="rect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49880" y="4956120"/>
            <a:ext cx="30160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30" strike="noStrike">
                <a:solidFill>
                  <a:srgbClr val="8DE9FA"/>
                </a:solidFill>
                <a:effectLst/>
                <a:uFillTx/>
                <a:latin typeface="Inter"/>
                <a:ea typeface="Inter"/>
              </a:rPr>
              <a:t>MIGRAÇÃO DE RPA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40520" y="5294520"/>
            <a:ext cx="74052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AUTOMATION ANYWHERE → PAD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68240" y="6108120"/>
            <a:ext cx="71308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79" strike="noStrike">
                <a:solidFill>
                  <a:srgbClr val="D8E7FA"/>
                </a:solidFill>
                <a:effectLst/>
                <a:uFillTx/>
                <a:latin typeface="Inter"/>
                <a:ea typeface="Inter"/>
              </a:rPr>
              <a:t>TCS / AUTOMATION ANYWHERE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76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658440" y="511920"/>
            <a:ext cx="1681920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795600" y="553320"/>
            <a:ext cx="14076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CONTEXTO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Máximo de robôs no PAD até jan/2027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Migrar o parque do Automation Anywhere 360 e desligar o máximo de licenças AA.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676800" y="2477880"/>
            <a:ext cx="6728400" cy="3400200"/>
          </a:xfrm>
          <a:prstGeom prst="roundRect">
            <a:avLst>
              <a:gd name="adj" fmla="val 510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969120" y="278892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O DESAFIO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969120" y="3218760"/>
            <a:ext cx="59878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570+ robôs, prazo fixo.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969120" y="4114800"/>
            <a:ext cx="57960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~170 produtivos e 400+ em DEV, que acessam dados produtivos; ~500 após a limpeza.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969120" y="5376600"/>
            <a:ext cx="105336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1"/>
          <p:cNvSpPr/>
          <p:nvPr/>
        </p:nvSpPr>
        <p:spPr>
          <a:xfrm>
            <a:off x="2022480" y="5376600"/>
            <a:ext cx="65844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2680920" y="5376600"/>
            <a:ext cx="48276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7671960" y="2477880"/>
            <a:ext cx="3811680" cy="3400200"/>
          </a:xfrm>
          <a:prstGeom prst="roundRect">
            <a:avLst>
              <a:gd name="adj" fmla="val 5376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4"/>
          <p:cNvSpPr/>
          <p:nvPr/>
        </p:nvSpPr>
        <p:spPr>
          <a:xfrm>
            <a:off x="8083440" y="2871360"/>
            <a:ext cx="446760" cy="446760"/>
          </a:xfrm>
          <a:prstGeom prst="ellipse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8083440" y="2980800"/>
            <a:ext cx="446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6"/>
          <p:cNvSpPr/>
          <p:nvPr/>
        </p:nvSpPr>
        <p:spPr>
          <a:xfrm>
            <a:off x="8686800" y="2953440"/>
            <a:ext cx="249480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LIFT AND SHIFT 1x1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7"/>
          <p:cNvSpPr/>
          <p:nvPr/>
        </p:nvSpPr>
        <p:spPr>
          <a:xfrm>
            <a:off x="8302680" y="3319200"/>
            <a:ext cx="360" cy="374760"/>
          </a:xfrm>
          <a:prstGeom prst="line">
            <a:avLst/>
          </a:prstGeom>
          <a:ln w="12700">
            <a:solidFill>
              <a:srgbClr val="7467DC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8083440" y="3721680"/>
            <a:ext cx="446760" cy="446760"/>
          </a:xfrm>
          <a:prstGeom prst="ellipse">
            <a:avLst/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8083440" y="3831480"/>
            <a:ext cx="446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0"/>
          <p:cNvSpPr/>
          <p:nvPr/>
        </p:nvSpPr>
        <p:spPr>
          <a:xfrm>
            <a:off x="8686800" y="3803760"/>
            <a:ext cx="249480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PIPELINE COM IA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1"/>
          <p:cNvSpPr/>
          <p:nvPr/>
        </p:nvSpPr>
        <p:spPr>
          <a:xfrm>
            <a:off x="8302680" y="4169520"/>
            <a:ext cx="360" cy="374760"/>
          </a:xfrm>
          <a:prstGeom prst="line">
            <a:avLst/>
          </a:prstGeom>
          <a:ln w="12700">
            <a:solidFill>
              <a:srgbClr val="7467DC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2"/>
          <p:cNvSpPr/>
          <p:nvPr/>
        </p:nvSpPr>
        <p:spPr>
          <a:xfrm>
            <a:off x="8083440" y="4572000"/>
            <a:ext cx="446760" cy="446760"/>
          </a:xfrm>
          <a:prstGeom prst="ellipse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3"/>
          <p:cNvSpPr/>
          <p:nvPr/>
        </p:nvSpPr>
        <p:spPr>
          <a:xfrm>
            <a:off x="8083440" y="4681800"/>
            <a:ext cx="446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4"/>
          <p:cNvSpPr/>
          <p:nvPr/>
        </p:nvSpPr>
        <p:spPr>
          <a:xfrm>
            <a:off x="8686800" y="4654440"/>
            <a:ext cx="249480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LICENÇAS AA LIBERADAS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1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03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658440" y="511920"/>
            <a:ext cx="1370160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795600" y="553320"/>
            <a:ext cx="10958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MIGRADOR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Seis etapas levam cada robô do AA ao PAD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Script na extração e na validação; no meio, skills do Claude Code com revisão humana.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658440" y="245988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59680" y="267912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859320" y="321840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859680" y="33192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Extração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859680" y="362088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Dependências, uso, runners e grafo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4535280" y="245988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4736520" y="267912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4736520" y="321840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4736520" y="33192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Analisar robô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4736520" y="362088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Ficha técnica e complexidade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8412480" y="245988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8613720" y="267912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8"/>
          <p:cNvSpPr/>
          <p:nvPr/>
        </p:nvSpPr>
        <p:spPr>
          <a:xfrm>
            <a:off x="8613360" y="321840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9"/>
          <p:cNvSpPr/>
          <p:nvPr/>
        </p:nvSpPr>
        <p:spPr>
          <a:xfrm>
            <a:off x="8613720" y="33192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Decidir rota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8613720" y="362088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Desktop × Cloud; fábrica × complexa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1"/>
          <p:cNvSpPr/>
          <p:nvPr/>
        </p:nvSpPr>
        <p:spPr>
          <a:xfrm>
            <a:off x="658440" y="415152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859680" y="437076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3"/>
          <p:cNvSpPr/>
          <p:nvPr/>
        </p:nvSpPr>
        <p:spPr>
          <a:xfrm>
            <a:off x="859320" y="491004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4"/>
          <p:cNvSpPr/>
          <p:nvPr/>
        </p:nvSpPr>
        <p:spPr>
          <a:xfrm>
            <a:off x="859680" y="5010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Documentar robô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859680" y="531252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Doc, diagrama e casos de teste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6"/>
          <p:cNvSpPr/>
          <p:nvPr/>
        </p:nvSpPr>
        <p:spPr>
          <a:xfrm>
            <a:off x="4535280" y="415152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7"/>
          <p:cNvSpPr/>
          <p:nvPr/>
        </p:nvSpPr>
        <p:spPr>
          <a:xfrm>
            <a:off x="4736520" y="437076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8"/>
          <p:cNvSpPr/>
          <p:nvPr/>
        </p:nvSpPr>
        <p:spPr>
          <a:xfrm>
            <a:off x="4736520" y="491004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9"/>
          <p:cNvSpPr/>
          <p:nvPr/>
        </p:nvSpPr>
        <p:spPr>
          <a:xfrm>
            <a:off x="4736520" y="5010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Converter robô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0"/>
          <p:cNvSpPr/>
          <p:nvPr/>
        </p:nvSpPr>
        <p:spPr>
          <a:xfrm>
            <a:off x="4736520" y="531252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Bloco AA → Robin com ID de origem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8412480" y="415152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2"/>
          <p:cNvSpPr/>
          <p:nvPr/>
        </p:nvSpPr>
        <p:spPr>
          <a:xfrm>
            <a:off x="8613720" y="437076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8613360" y="491004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4"/>
          <p:cNvSpPr/>
          <p:nvPr/>
        </p:nvSpPr>
        <p:spPr>
          <a:xfrm>
            <a:off x="8613720" y="5010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Validador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5"/>
          <p:cNvSpPr/>
          <p:nvPr/>
        </p:nvSpPr>
        <p:spPr>
          <a:xfrm>
            <a:off x="8613720" y="5312520"/>
            <a:ext cx="3130905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Pares AA → PAD, variáveis, subfluxos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41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04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658440" y="511920"/>
            <a:ext cx="2208276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795600" y="553320"/>
            <a:ext cx="1933956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PIPELINE AA360 → PAD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Picture 4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435" y="949320"/>
            <a:ext cx="4739130" cy="5451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41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05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658440" y="511920"/>
            <a:ext cx="2082600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795600" y="553320"/>
            <a:ext cx="18082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FLUXO APP BASE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Picture 4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6859"/>
            <a:ext cx="10972800" cy="32164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pic>
        <p:nvPicPr>
          <p:cNvPr id="62" name="Image 0" descr="/mnt/data/base-img.png"/>
          <p:cNvPicPr/>
          <p:nvPr/>
        </p:nvPicPr>
        <p:blipFill>
          <a:blip r:embed="rId2"/>
          <a:srcRect l="39281" t="0" r="6983" b="0"/>
          <a:stretch/>
        </p:blipFill>
        <p:spPr>
          <a:xfrm>
            <a:off x="6660720" y="0"/>
            <a:ext cx="552672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Shape 1"/>
          <p:cNvSpPr/>
          <p:nvPr/>
        </p:nvSpPr>
        <p:spPr>
          <a:xfrm>
            <a:off x="0" y="0"/>
            <a:ext cx="6242400" cy="685656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6458400" y="0"/>
            <a:ext cx="201240" cy="68565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6C9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6458400" y="2331720"/>
            <a:ext cx="201240" cy="1918800"/>
          </a:xfrm>
          <a:prstGeom prst="rect">
            <a:avLst/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6458400" y="4251960"/>
            <a:ext cx="201240" cy="1095840"/>
          </a:xfrm>
          <a:prstGeom prst="rect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67" name="Text 5"/>
          <p:cNvSpPr/>
          <p:nvPr/>
        </p:nvSpPr>
        <p:spPr>
          <a:xfrm>
            <a:off x="658440" y="62172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pc="15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21720" y="1243440"/>
            <a:ext cx="274176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0" b="1" u="none" strike="noStrike">
                <a:solidFill>
                  <a:srgbClr val="EFEDFC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9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713160" y="2926080"/>
            <a:ext cx="1000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1713600" y="2926080"/>
            <a:ext cx="6256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2339280" y="2926080"/>
            <a:ext cx="45864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667440" y="3246120"/>
            <a:ext cx="5457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NA PRÁTICA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676800" y="4334400"/>
            <a:ext cx="53020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Como um robô típico sai do AA e chega ao PAD em produção.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667440" y="5751720"/>
            <a:ext cx="1461600" cy="300240"/>
          </a:xfrm>
          <a:prstGeom prst="roundRect">
            <a:avLst>
              <a:gd name="adj" fmla="val 45455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804600" y="5792760"/>
            <a:ext cx="11872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SEÇÃO  01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1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07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658440" y="511920"/>
            <a:ext cx="1370160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795600" y="553320"/>
            <a:ext cx="10958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NA PRÁTICA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App base: de 8 a 12h do AA ao PAD em produção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Banco de dados, raspagem de tela, file server e API seguem 1x1, onde já estão hoje.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658440" y="245988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59680" y="267912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859320" y="321840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859680" y="33192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Mapear integrações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859680" y="362088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Banco, tela, file server e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4535280" y="245988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4736520" y="267912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4736520" y="321840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4736520" y="33192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Documentar e aprovar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4736520" y="362088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Doc e testes aprovados pelo dono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8412480" y="245988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8613720" y="267912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8"/>
          <p:cNvSpPr/>
          <p:nvPr/>
        </p:nvSpPr>
        <p:spPr>
          <a:xfrm>
            <a:off x="8613360" y="321840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9"/>
          <p:cNvSpPr/>
          <p:nvPr/>
        </p:nvSpPr>
        <p:spPr>
          <a:xfrm>
            <a:off x="8613720" y="33192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Converter 1x1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8613720" y="362088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Cada ação Robin com o ID do AA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1"/>
          <p:cNvSpPr/>
          <p:nvPr/>
        </p:nvSpPr>
        <p:spPr>
          <a:xfrm>
            <a:off x="658440" y="415152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859680" y="437076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3"/>
          <p:cNvSpPr/>
          <p:nvPr/>
        </p:nvSpPr>
        <p:spPr>
          <a:xfrm>
            <a:off x="859320" y="491004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4"/>
          <p:cNvSpPr/>
          <p:nvPr/>
        </p:nvSpPr>
        <p:spPr>
          <a:xfrm>
            <a:off x="859680" y="5010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Credenciais no cofre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859680" y="531252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Sem senha no Robin, por ambiente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6"/>
          <p:cNvSpPr/>
          <p:nvPr/>
        </p:nvSpPr>
        <p:spPr>
          <a:xfrm>
            <a:off x="4535280" y="415152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7"/>
          <p:cNvSpPr/>
          <p:nvPr/>
        </p:nvSpPr>
        <p:spPr>
          <a:xfrm>
            <a:off x="4736520" y="437076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8"/>
          <p:cNvSpPr/>
          <p:nvPr/>
        </p:nvSpPr>
        <p:spPr>
          <a:xfrm>
            <a:off x="4736520" y="491004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9"/>
          <p:cNvSpPr/>
          <p:nvPr/>
        </p:nvSpPr>
        <p:spPr>
          <a:xfrm>
            <a:off x="4736520" y="5010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Validar e ajustar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0"/>
          <p:cNvSpPr/>
          <p:nvPr/>
        </p:nvSpPr>
        <p:spPr>
          <a:xfrm>
            <a:off x="4736520" y="531252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TODOs e seletores de tela pelo dev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8412480" y="4151520"/>
            <a:ext cx="3628800" cy="1470600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2"/>
          <p:cNvSpPr/>
          <p:nvPr/>
        </p:nvSpPr>
        <p:spPr>
          <a:xfrm>
            <a:off x="8613720" y="4370760"/>
            <a:ext cx="10044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8613360" y="4910040"/>
            <a:ext cx="315468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4"/>
          <p:cNvSpPr/>
          <p:nvPr/>
        </p:nvSpPr>
        <p:spPr>
          <a:xfrm>
            <a:off x="8613720" y="5010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Testar e implantar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5"/>
          <p:cNvSpPr/>
          <p:nvPr/>
        </p:nvSpPr>
        <p:spPr>
          <a:xfrm>
            <a:off x="8613720" y="5312520"/>
            <a:ext cx="3107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HML/DEV, deploy e AA em espera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41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658440" y="511920"/>
            <a:ext cx="2208276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795600" y="553320"/>
            <a:ext cx="1933956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IA + PORTÕES HUMANOS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A IA converte, as pessoas decidem e validam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Cada etapa crítica tem um responsável humano antes de seguir adiante.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6"/>
          <p:cNvSpPr/>
          <p:nvPr/>
        </p:nvSpPr>
        <p:spPr>
          <a:xfrm>
            <a:off x="667440" y="2541960"/>
            <a:ext cx="5466600" cy="3336120"/>
          </a:xfrm>
          <a:prstGeom prst="roundRect">
            <a:avLst>
              <a:gd name="adj" fmla="val 5205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7"/>
          <p:cNvSpPr/>
          <p:nvPr/>
        </p:nvSpPr>
        <p:spPr>
          <a:xfrm>
            <a:off x="969120" y="2834640"/>
            <a:ext cx="1873080" cy="30024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1106280" y="2875680"/>
            <a:ext cx="159876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16C9EE"/>
                </a:solidFill>
                <a:effectLst/>
                <a:uFillTx/>
                <a:latin typeface="Inter"/>
                <a:ea typeface="Inter"/>
              </a:rPr>
              <a:t>MIGRADOR COM IA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9"/>
          <p:cNvSpPr/>
          <p:nvPr/>
        </p:nvSpPr>
        <p:spPr>
          <a:xfrm>
            <a:off x="978480" y="3666600"/>
            <a:ext cx="47444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Escala • Padrão • 1x1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0"/>
          <p:cNvSpPr/>
          <p:nvPr/>
        </p:nvSpPr>
        <p:spPr>
          <a:xfrm>
            <a:off x="978120" y="4626720"/>
            <a:ext cx="4791600" cy="360"/>
          </a:xfrm>
          <a:prstGeom prst="line">
            <a:avLst/>
          </a:prstGeom>
          <a:ln w="254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978480" y="4892040"/>
            <a:ext cx="47167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Não inventa: marca TODO e REVISAR; não executa robôs nem acessa credenciais.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22"/>
          <p:cNvSpPr/>
          <p:nvPr/>
        </p:nvSpPr>
        <p:spPr>
          <a:xfrm>
            <a:off x="6464880" y="2541960"/>
            <a:ext cx="5466600" cy="3336120"/>
          </a:xfrm>
          <a:prstGeom prst="roundRect">
            <a:avLst>
              <a:gd name="adj" fmla="val 520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3"/>
          <p:cNvSpPr/>
          <p:nvPr/>
        </p:nvSpPr>
        <p:spPr>
          <a:xfrm>
            <a:off x="6766560" y="2834640"/>
            <a:ext cx="1873080" cy="30024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4"/>
          <p:cNvSpPr/>
          <p:nvPr/>
        </p:nvSpPr>
        <p:spPr>
          <a:xfrm>
            <a:off x="6903720" y="2875680"/>
            <a:ext cx="159876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PORTÕES HUMANOS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5"/>
          <p:cNvSpPr/>
          <p:nvPr/>
        </p:nvSpPr>
        <p:spPr>
          <a:xfrm>
            <a:off x="6775560" y="3666600"/>
            <a:ext cx="47444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Rota • Doc • Testes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6"/>
          <p:cNvSpPr/>
          <p:nvPr/>
        </p:nvSpPr>
        <p:spPr>
          <a:xfrm>
            <a:off x="6775560" y="4626720"/>
            <a:ext cx="4791600" cy="360"/>
          </a:xfrm>
          <a:prstGeom prst="line">
            <a:avLst/>
          </a:prstGeom>
          <a:ln w="254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7"/>
          <p:cNvSpPr/>
          <p:nvPr/>
        </p:nvSpPr>
        <p:spPr>
          <a:xfrm>
            <a:off x="6775560" y="4892040"/>
            <a:ext cx="47167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Dono do processo aprova a doc; áreas e QA testam em HML; release faz deploy e hypercare.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110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09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658440" y="511920"/>
            <a:ext cx="1420291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795600" y="553320"/>
            <a:ext cx="1145971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ARQUITETURA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Mesma infraestrutura, novo motor de automação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Na 1ª onda, dados, compartilhamentos e integrações on-premises continuam onde estão.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822960" y="2514600"/>
            <a:ext cx="474120" cy="474120"/>
          </a:xfrm>
          <a:prstGeom prst="ellipse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822960" y="2656440"/>
            <a:ext cx="474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1517760" y="2477880"/>
            <a:ext cx="46162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Power Automate Desktop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1517760" y="2825640"/>
            <a:ext cx="4625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Destino padrão; Cloud quando aplicável.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1536120" y="3218400"/>
            <a:ext cx="449892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822960" y="3374280"/>
            <a:ext cx="474120" cy="474120"/>
          </a:xfrm>
          <a:prstGeom prst="ellipse">
            <a:avLst/>
          </a:prstGeom>
          <a:solidFill>
            <a:srgbClr val="386DEB"/>
          </a:solidFill>
          <a:ln w="12700">
            <a:solidFill>
              <a:srgbClr val="386D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822960" y="3515760"/>
            <a:ext cx="474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1517760" y="3337560"/>
            <a:ext cx="46162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VMs on-premises do cliente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1517760" y="3684960"/>
            <a:ext cx="4625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Seguem como máquinas dos runners na 1ª onda.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1536120" y="4078080"/>
            <a:ext cx="449892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6"/>
          <p:cNvSpPr/>
          <p:nvPr/>
        </p:nvSpPr>
        <p:spPr>
          <a:xfrm>
            <a:off x="822960" y="4233600"/>
            <a:ext cx="474120" cy="474120"/>
          </a:xfrm>
          <a:prstGeom prst="ellipse">
            <a:avLst/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822960" y="4375440"/>
            <a:ext cx="474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1517760" y="4197240"/>
            <a:ext cx="46162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Cofre corporativo do Itaú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1517760" y="4544640"/>
            <a:ext cx="4625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Fluxo chama a API/CLI no início, por ambiente.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0"/>
          <p:cNvSpPr/>
          <p:nvPr/>
        </p:nvSpPr>
        <p:spPr>
          <a:xfrm>
            <a:off x="1536120" y="4937760"/>
            <a:ext cx="4498920" cy="360"/>
          </a:xfrm>
          <a:prstGeom prst="line">
            <a:avLst/>
          </a:prstGeom>
          <a:ln w="889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1"/>
          <p:cNvSpPr/>
          <p:nvPr/>
        </p:nvSpPr>
        <p:spPr>
          <a:xfrm>
            <a:off x="822960" y="5093280"/>
            <a:ext cx="474120" cy="474120"/>
          </a:xfrm>
          <a:prstGeom prst="ellipse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822960" y="5235120"/>
            <a:ext cx="474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1517760" y="5056560"/>
            <a:ext cx="46162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Deploy DEV → HML → produção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4"/>
          <p:cNvSpPr/>
          <p:nvPr/>
        </p:nvSpPr>
        <p:spPr>
          <a:xfrm>
            <a:off x="1517760" y="5403960"/>
            <a:ext cx="4625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Robin colado no PAD em DEV, sem Dataverse.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5"/>
          <p:cNvSpPr/>
          <p:nvPr/>
        </p:nvSpPr>
        <p:spPr>
          <a:xfrm>
            <a:off x="6949440" y="2477880"/>
            <a:ext cx="4515840" cy="3555720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6"/>
          <p:cNvSpPr/>
          <p:nvPr/>
        </p:nvSpPr>
        <p:spPr>
          <a:xfrm>
            <a:off x="7452360" y="2724840"/>
            <a:ext cx="3500640" cy="464760"/>
          </a:xfrm>
          <a:prstGeom prst="roundRect">
            <a:avLst>
              <a:gd name="adj" fmla="val 45098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7754040" y="2825640"/>
            <a:ext cx="2924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SEM SENHA NO ROBIN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8"/>
          <p:cNvSpPr/>
          <p:nvPr/>
        </p:nvSpPr>
        <p:spPr>
          <a:xfrm>
            <a:off x="7452360" y="3300840"/>
            <a:ext cx="3632255" cy="464760"/>
          </a:xfrm>
          <a:prstGeom prst="roundRect">
            <a:avLst>
              <a:gd name="adj" fmla="val 45098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7754040" y="3401640"/>
            <a:ext cx="3056255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1 CREDENCIAL POR AMBIENTE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0"/>
          <p:cNvSpPr/>
          <p:nvPr/>
        </p:nvSpPr>
        <p:spPr>
          <a:xfrm>
            <a:off x="7452360" y="3877200"/>
            <a:ext cx="3500640" cy="464760"/>
          </a:xfrm>
          <a:prstGeom prst="roundRect">
            <a:avLst>
              <a:gd name="adj" fmla="val 45098"/>
            </a:avLst>
          </a:prstGeom>
          <a:solidFill>
            <a:srgbClr val="FFF0F8"/>
          </a:solidFill>
          <a:ln w="12700">
            <a:solidFill>
              <a:srgbClr val="FFF0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1"/>
          <p:cNvSpPr/>
          <p:nvPr/>
        </p:nvSpPr>
        <p:spPr>
          <a:xfrm>
            <a:off x="7754040" y="3977640"/>
            <a:ext cx="2924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KEY VAULT SÓ EXCEÇÃO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2"/>
          <p:cNvSpPr/>
          <p:nvPr/>
        </p:nvSpPr>
        <p:spPr>
          <a:xfrm>
            <a:off x="7772400" y="4846320"/>
            <a:ext cx="3017520" cy="360"/>
          </a:xfrm>
          <a:prstGeom prst="line">
            <a:avLst/>
          </a:prstGeom>
          <a:ln w="254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3"/>
          <p:cNvSpPr/>
          <p:nvPr/>
        </p:nvSpPr>
        <p:spPr>
          <a:xfrm>
            <a:off x="7680960" y="5083920"/>
            <a:ext cx="29246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LIFT AND SHIFT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33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10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9"/>
          <p:cNvSpPr/>
          <p:nvPr/>
        </p:nvSpPr>
        <p:spPr>
          <a:xfrm>
            <a:off x="658440" y="511920"/>
            <a:ext cx="1595399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0"/>
          <p:cNvSpPr/>
          <p:nvPr/>
        </p:nvSpPr>
        <p:spPr>
          <a:xfrm>
            <a:off x="795600" y="553320"/>
            <a:ext cx="1321079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LICENCIAMENTO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Licença segue a concorrência, não os robôs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De-para AA → Power Platform; Process dimensionado pelo pico de execuções simultâneas.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676800" y="2496240"/>
            <a:ext cx="10825200" cy="519840"/>
          </a:xfrm>
          <a:prstGeom prst="roundRect">
            <a:avLst>
              <a:gd name="adj" fmla="val 19298"/>
            </a:avLst>
          </a:prstGeom>
          <a:solidFill>
            <a:srgbClr val="081830"/>
          </a:solidFill>
          <a:ln w="12700">
            <a:solidFill>
              <a:srgbClr val="0818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7"/>
          <p:cNvSpPr/>
          <p:nvPr/>
        </p:nvSpPr>
        <p:spPr>
          <a:xfrm>
            <a:off x="850320" y="2651760"/>
            <a:ext cx="2750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AUTOMATION ANYWHERE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8"/>
          <p:cNvSpPr/>
          <p:nvPr/>
        </p:nvSpPr>
        <p:spPr>
          <a:xfrm>
            <a:off x="3858840" y="2651760"/>
            <a:ext cx="20012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POWER PLATFORM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6117480" y="2651760"/>
            <a:ext cx="20469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MODELO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0"/>
          <p:cNvSpPr/>
          <p:nvPr/>
        </p:nvSpPr>
        <p:spPr>
          <a:xfrm>
            <a:off x="8421480" y="2651760"/>
            <a:ext cx="29887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OBSERVAÇÃO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1"/>
          <p:cNvSpPr/>
          <p:nvPr/>
        </p:nvSpPr>
        <p:spPr>
          <a:xfrm>
            <a:off x="676800" y="3054240"/>
            <a:ext cx="10825200" cy="501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2"/>
          <p:cNvSpPr/>
          <p:nvPr/>
        </p:nvSpPr>
        <p:spPr>
          <a:xfrm>
            <a:off x="841320" y="3154680"/>
            <a:ext cx="2778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Bot Creator / Attended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3"/>
          <p:cNvSpPr/>
          <p:nvPr/>
        </p:nvSpPr>
        <p:spPr>
          <a:xfrm>
            <a:off x="3849480" y="3154680"/>
            <a:ext cx="20286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PA Premium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4"/>
          <p:cNvSpPr/>
          <p:nvPr/>
        </p:nvSpPr>
        <p:spPr>
          <a:xfrm>
            <a:off x="6108120" y="3154680"/>
            <a:ext cx="2074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Por usuário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5"/>
          <p:cNvSpPr/>
          <p:nvPr/>
        </p:nvSpPr>
        <p:spPr>
          <a:xfrm>
            <a:off x="8412480" y="3154680"/>
            <a:ext cx="3016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Dev e execução assistida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6"/>
          <p:cNvSpPr/>
          <p:nvPr/>
        </p:nvSpPr>
        <p:spPr>
          <a:xfrm>
            <a:off x="676800" y="3575160"/>
            <a:ext cx="10825200" cy="501480"/>
          </a:xfrm>
          <a:prstGeom prst="roundRect">
            <a:avLst>
              <a:gd name="adj" fmla="val 3636"/>
            </a:avLst>
          </a:prstGeom>
          <a:solidFill>
            <a:srgbClr val="F1F5FC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7"/>
          <p:cNvSpPr/>
          <p:nvPr/>
        </p:nvSpPr>
        <p:spPr>
          <a:xfrm>
            <a:off x="841320" y="3675960"/>
            <a:ext cx="2778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Unattended Runner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8"/>
          <p:cNvSpPr/>
          <p:nvPr/>
        </p:nvSpPr>
        <p:spPr>
          <a:xfrm>
            <a:off x="3849480" y="3675960"/>
            <a:ext cx="20286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PA Process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9"/>
          <p:cNvSpPr/>
          <p:nvPr/>
        </p:nvSpPr>
        <p:spPr>
          <a:xfrm>
            <a:off x="6108120" y="3675960"/>
            <a:ext cx="2074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Por robô/máquina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0"/>
          <p:cNvSpPr/>
          <p:nvPr/>
        </p:nvSpPr>
        <p:spPr>
          <a:xfrm>
            <a:off x="8412480" y="3675960"/>
            <a:ext cx="3016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Pico de execuções simultâneas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1"/>
          <p:cNvSpPr/>
          <p:nvPr/>
        </p:nvSpPr>
        <p:spPr>
          <a:xfrm>
            <a:off x="676800" y="4096440"/>
            <a:ext cx="10825200" cy="501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2"/>
          <p:cNvSpPr/>
          <p:nvPr/>
        </p:nvSpPr>
        <p:spPr>
          <a:xfrm>
            <a:off x="841320" y="4197240"/>
            <a:ext cx="2778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Unattended em VM Microsoft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3"/>
          <p:cNvSpPr/>
          <p:nvPr/>
        </p:nvSpPr>
        <p:spPr>
          <a:xfrm>
            <a:off x="3849480" y="4197240"/>
            <a:ext cx="20286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Hosted Process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4"/>
          <p:cNvSpPr/>
          <p:nvPr/>
        </p:nvSpPr>
        <p:spPr>
          <a:xfrm>
            <a:off x="6108120" y="4197240"/>
            <a:ext cx="2074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Não na 1ª onda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5"/>
          <p:cNvSpPr/>
          <p:nvPr/>
        </p:nvSpPr>
        <p:spPr>
          <a:xfrm>
            <a:off x="8412480" y="4197240"/>
            <a:ext cx="3016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Runners seguem on-premises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6"/>
          <p:cNvSpPr/>
          <p:nvPr/>
        </p:nvSpPr>
        <p:spPr>
          <a:xfrm>
            <a:off x="676800" y="4617720"/>
            <a:ext cx="10825200" cy="501480"/>
          </a:xfrm>
          <a:prstGeom prst="roundRect">
            <a:avLst>
              <a:gd name="adj" fmla="val 3636"/>
            </a:avLst>
          </a:prstGeom>
          <a:solidFill>
            <a:srgbClr val="F1F5FC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7"/>
          <p:cNvSpPr/>
          <p:nvPr/>
        </p:nvSpPr>
        <p:spPr>
          <a:xfrm>
            <a:off x="841320" y="4718160"/>
            <a:ext cx="2778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Office sem usuário logado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8"/>
          <p:cNvSpPr/>
          <p:nvPr/>
        </p:nvSpPr>
        <p:spPr>
          <a:xfrm>
            <a:off x="3849480" y="4718160"/>
            <a:ext cx="20286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M365 E3 Unattended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9"/>
          <p:cNvSpPr/>
          <p:nvPr/>
        </p:nvSpPr>
        <p:spPr>
          <a:xfrm>
            <a:off x="6108120" y="4718160"/>
            <a:ext cx="2074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Complemento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0"/>
          <p:cNvSpPr/>
          <p:nvPr/>
        </p:nvSpPr>
        <p:spPr>
          <a:xfrm>
            <a:off x="8412480" y="4718160"/>
            <a:ext cx="3016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Robôs que usam Office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41"/>
          <p:cNvSpPr/>
          <p:nvPr/>
        </p:nvSpPr>
        <p:spPr>
          <a:xfrm>
            <a:off x="676800" y="5139000"/>
            <a:ext cx="10825200" cy="501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2"/>
          <p:cNvSpPr/>
          <p:nvPr/>
        </p:nvSpPr>
        <p:spPr>
          <a:xfrm>
            <a:off x="841320" y="5239440"/>
            <a:ext cx="2778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OCR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3"/>
          <p:cNvSpPr/>
          <p:nvPr/>
        </p:nvSpPr>
        <p:spPr>
          <a:xfrm>
            <a:off x="3849480" y="5239440"/>
            <a:ext cx="20286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AI Builder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4"/>
          <p:cNvSpPr/>
          <p:nvPr/>
        </p:nvSpPr>
        <p:spPr>
          <a:xfrm>
            <a:off x="6108120" y="5239440"/>
            <a:ext cx="2074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Complemento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45"/>
          <p:cNvSpPr/>
          <p:nvPr/>
        </p:nvSpPr>
        <p:spPr>
          <a:xfrm>
            <a:off x="8412480" y="5239440"/>
            <a:ext cx="3016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Robôs com OCR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484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11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658440" y="511920"/>
            <a:ext cx="1770507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0"/>
          <p:cNvSpPr/>
          <p:nvPr/>
        </p:nvSpPr>
        <p:spPr>
          <a:xfrm>
            <a:off x="795600" y="553320"/>
            <a:ext cx="1496187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TESTE E CUTOVER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AA fica em espera até o go-live definitivo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Testes em cascata conforme o ambiente disponível em cada sistema legado.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6"/>
          <p:cNvSpPr/>
          <p:nvPr/>
        </p:nvSpPr>
        <p:spPr>
          <a:xfrm>
            <a:off x="676800" y="2569320"/>
            <a:ext cx="2677680" cy="3025080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7"/>
          <p:cNvSpPr/>
          <p:nvPr/>
        </p:nvSpPr>
        <p:spPr>
          <a:xfrm>
            <a:off x="914400" y="2889360"/>
            <a:ext cx="2202120" cy="108360"/>
          </a:xfrm>
          <a:prstGeom prst="roundRect">
            <a:avLst>
              <a:gd name="adj" fmla="val 50000"/>
            </a:avLst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8"/>
          <p:cNvSpPr/>
          <p:nvPr/>
        </p:nvSpPr>
        <p:spPr>
          <a:xfrm>
            <a:off x="923400" y="3264480"/>
            <a:ext cx="21016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6C9E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9"/>
          <p:cNvSpPr/>
          <p:nvPr/>
        </p:nvSpPr>
        <p:spPr>
          <a:xfrm>
            <a:off x="923400" y="4014360"/>
            <a:ext cx="2165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9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HML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0"/>
          <p:cNvSpPr/>
          <p:nvPr/>
        </p:nvSpPr>
        <p:spPr>
          <a:xfrm>
            <a:off x="923400" y="4617720"/>
            <a:ext cx="218412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Quando o sistema tiver homologação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21"/>
          <p:cNvSpPr/>
          <p:nvPr/>
        </p:nvSpPr>
        <p:spPr>
          <a:xfrm>
            <a:off x="3584520" y="2569320"/>
            <a:ext cx="2677680" cy="3025080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2"/>
          <p:cNvSpPr/>
          <p:nvPr/>
        </p:nvSpPr>
        <p:spPr>
          <a:xfrm>
            <a:off x="3822120" y="2889360"/>
            <a:ext cx="2202120" cy="108360"/>
          </a:xfrm>
          <a:prstGeom prst="roundRect">
            <a:avLst>
              <a:gd name="adj" fmla="val 50000"/>
            </a:avLst>
          </a:prstGeom>
          <a:solidFill>
            <a:srgbClr val="386DEB"/>
          </a:solidFill>
          <a:ln w="12700">
            <a:solidFill>
              <a:srgbClr val="386D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3"/>
          <p:cNvSpPr/>
          <p:nvPr/>
        </p:nvSpPr>
        <p:spPr>
          <a:xfrm>
            <a:off x="3831480" y="3264480"/>
            <a:ext cx="21016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386DEB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4"/>
          <p:cNvSpPr/>
          <p:nvPr/>
        </p:nvSpPr>
        <p:spPr>
          <a:xfrm>
            <a:off x="3831480" y="4014360"/>
            <a:ext cx="2165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9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DEV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5"/>
          <p:cNvSpPr/>
          <p:nvPr/>
        </p:nvSpPr>
        <p:spPr>
          <a:xfrm>
            <a:off x="3831480" y="4617720"/>
            <a:ext cx="218412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Quando não houver HML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6"/>
          <p:cNvSpPr/>
          <p:nvPr/>
        </p:nvSpPr>
        <p:spPr>
          <a:xfrm>
            <a:off x="6492240" y="2569320"/>
            <a:ext cx="2677680" cy="3025080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7"/>
          <p:cNvSpPr/>
          <p:nvPr/>
        </p:nvSpPr>
        <p:spPr>
          <a:xfrm>
            <a:off x="6729840" y="2889360"/>
            <a:ext cx="2202120" cy="108360"/>
          </a:xfrm>
          <a:prstGeom prst="roundRect">
            <a:avLst>
              <a:gd name="adj" fmla="val 50000"/>
            </a:avLst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8"/>
          <p:cNvSpPr/>
          <p:nvPr/>
        </p:nvSpPr>
        <p:spPr>
          <a:xfrm>
            <a:off x="6739200" y="3264480"/>
            <a:ext cx="21016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9"/>
          <p:cNvSpPr/>
          <p:nvPr/>
        </p:nvSpPr>
        <p:spPr>
          <a:xfrm>
            <a:off x="6739200" y="4014360"/>
            <a:ext cx="2165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9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ASSISTIDO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0"/>
          <p:cNvSpPr/>
          <p:nvPr/>
        </p:nvSpPr>
        <p:spPr>
          <a:xfrm>
            <a:off x="6739200" y="4617720"/>
            <a:ext cx="218412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Execução assistida com Itaú e TCS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1"/>
          <p:cNvSpPr/>
          <p:nvPr/>
        </p:nvSpPr>
        <p:spPr>
          <a:xfrm>
            <a:off x="9399960" y="2569320"/>
            <a:ext cx="2677680" cy="3025080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2"/>
          <p:cNvSpPr/>
          <p:nvPr/>
        </p:nvSpPr>
        <p:spPr>
          <a:xfrm>
            <a:off x="9637920" y="2889360"/>
            <a:ext cx="2202120" cy="108360"/>
          </a:xfrm>
          <a:prstGeom prst="roundRect">
            <a:avLst>
              <a:gd name="adj" fmla="val 50000"/>
            </a:avLst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33"/>
          <p:cNvSpPr/>
          <p:nvPr/>
        </p:nvSpPr>
        <p:spPr>
          <a:xfrm>
            <a:off x="9646920" y="3264480"/>
            <a:ext cx="21016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34"/>
          <p:cNvSpPr/>
          <p:nvPr/>
        </p:nvSpPr>
        <p:spPr>
          <a:xfrm>
            <a:off x="9646920" y="4014360"/>
            <a:ext cx="2165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9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GO-LIVE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5"/>
          <p:cNvSpPr/>
          <p:nvPr/>
        </p:nvSpPr>
        <p:spPr>
          <a:xfrm>
            <a:off x="9646920" y="4617720"/>
            <a:ext cx="218412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Agenda AA desligada; licença só depois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213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12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658440" y="511920"/>
            <a:ext cx="1595399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795600" y="553320"/>
            <a:ext cx="1321079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PRODUTIVIDADE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Meta de 4 a 18 horas por robô, ponta a ponta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Esforço total por robô: doc, conversão, QA, HML, deploy e integração em ambiente funcional.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6"/>
          <p:cNvSpPr/>
          <p:nvPr/>
        </p:nvSpPr>
        <p:spPr>
          <a:xfrm>
            <a:off x="676800" y="2551320"/>
            <a:ext cx="3610440" cy="314424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7"/>
          <p:cNvSpPr/>
          <p:nvPr/>
        </p:nvSpPr>
        <p:spPr>
          <a:xfrm>
            <a:off x="905040" y="2862000"/>
            <a:ext cx="86868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905400" y="3346560"/>
            <a:ext cx="311652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4–6h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9"/>
          <p:cNvSpPr/>
          <p:nvPr/>
        </p:nvSpPr>
        <p:spPr>
          <a:xfrm>
            <a:off x="905400" y="4279320"/>
            <a:ext cx="299772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BAIXA COMPLEXIDADE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0"/>
          <p:cNvSpPr/>
          <p:nvPr/>
        </p:nvSpPr>
        <p:spPr>
          <a:xfrm>
            <a:off x="905400" y="4709160"/>
            <a:ext cx="3034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~15% do parque (estimativa)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1"/>
          <p:cNvSpPr/>
          <p:nvPr/>
        </p:nvSpPr>
        <p:spPr>
          <a:xfrm>
            <a:off x="4544640" y="2551320"/>
            <a:ext cx="3610440" cy="314424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2"/>
          <p:cNvSpPr/>
          <p:nvPr/>
        </p:nvSpPr>
        <p:spPr>
          <a:xfrm>
            <a:off x="4772880" y="2862000"/>
            <a:ext cx="8686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4773240" y="3346560"/>
            <a:ext cx="311652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8–12h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4"/>
          <p:cNvSpPr/>
          <p:nvPr/>
        </p:nvSpPr>
        <p:spPr>
          <a:xfrm>
            <a:off x="4773240" y="4279320"/>
            <a:ext cx="299772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MÉDIA COMPLEXIDADE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5"/>
          <p:cNvSpPr/>
          <p:nvPr/>
        </p:nvSpPr>
        <p:spPr>
          <a:xfrm>
            <a:off x="4773240" y="4709160"/>
            <a:ext cx="3034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~70% do parque (estimativa)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6"/>
          <p:cNvSpPr/>
          <p:nvPr/>
        </p:nvSpPr>
        <p:spPr>
          <a:xfrm>
            <a:off x="8412480" y="2551320"/>
            <a:ext cx="3610440" cy="314424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7"/>
          <p:cNvSpPr/>
          <p:nvPr/>
        </p:nvSpPr>
        <p:spPr>
          <a:xfrm>
            <a:off x="8641080" y="2862000"/>
            <a:ext cx="868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8"/>
          <p:cNvSpPr/>
          <p:nvPr/>
        </p:nvSpPr>
        <p:spPr>
          <a:xfrm>
            <a:off x="8641080" y="3346560"/>
            <a:ext cx="311652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14–18h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9"/>
          <p:cNvSpPr/>
          <p:nvPr/>
        </p:nvSpPr>
        <p:spPr>
          <a:xfrm>
            <a:off x="8641080" y="4279320"/>
            <a:ext cx="299772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ALTA COMPLEXIDADE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0"/>
          <p:cNvSpPr/>
          <p:nvPr/>
        </p:nvSpPr>
        <p:spPr>
          <a:xfrm>
            <a:off x="8641080" y="4709160"/>
            <a:ext cx="3034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~15% do parque (estimativa)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1"/>
          <p:cNvSpPr/>
          <p:nvPr/>
        </p:nvSpPr>
        <p:spPr>
          <a:xfrm>
            <a:off x="722520" y="6035040"/>
            <a:ext cx="6948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2B1C8"/>
                </a:solidFill>
                <a:effectLst/>
                <a:uFillTx/>
                <a:latin typeface="Inter"/>
                <a:ea typeface="Inter"/>
              </a:rPr>
              <a:t>Metas com o pipeline completo com IA; o mix real depende da regra de complexidade.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307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6"/>
          <p:cNvSpPr/>
          <p:nvPr/>
        </p:nvSpPr>
        <p:spPr>
          <a:xfrm>
            <a:off x="621720" y="6473880"/>
            <a:ext cx="10972800" cy="360"/>
          </a:xfrm>
          <a:prstGeom prst="line">
            <a:avLst/>
          </a:prstGeom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631080" y="6537960"/>
            <a:ext cx="36561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0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TCS  /  AUTOMATION ANYWHERE → PAD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9784080" y="6537960"/>
            <a:ext cx="17816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AUTOMATION ANYWHERE • 13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9"/>
          <p:cNvSpPr/>
          <p:nvPr/>
        </p:nvSpPr>
        <p:spPr>
          <a:xfrm>
            <a:off x="658440" y="511920"/>
            <a:ext cx="1414800" cy="300240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795600" y="553320"/>
            <a:ext cx="11404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ENTREGA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658440" y="941760"/>
            <a:ext cx="10651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Ondas por runner, priorizadas por licenças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667440" y="1609200"/>
            <a:ext cx="10651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Um runner AA só é liberado quando todos os seus robôs saem para o PAD.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3"/>
          <p:cNvSpPr/>
          <p:nvPr/>
        </p:nvSpPr>
        <p:spPr>
          <a:xfrm>
            <a:off x="676440" y="2093760"/>
            <a:ext cx="65844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4"/>
          <p:cNvSpPr/>
          <p:nvPr/>
        </p:nvSpPr>
        <p:spPr>
          <a:xfrm>
            <a:off x="1334880" y="2093760"/>
            <a:ext cx="41148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5"/>
          <p:cNvSpPr/>
          <p:nvPr/>
        </p:nvSpPr>
        <p:spPr>
          <a:xfrm>
            <a:off x="1746360" y="2093760"/>
            <a:ext cx="30168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6"/>
          <p:cNvSpPr/>
          <p:nvPr/>
        </p:nvSpPr>
        <p:spPr>
          <a:xfrm>
            <a:off x="658440" y="2551320"/>
            <a:ext cx="3592080" cy="3226320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7"/>
          <p:cNvSpPr/>
          <p:nvPr/>
        </p:nvSpPr>
        <p:spPr>
          <a:xfrm>
            <a:off x="914400" y="2935080"/>
            <a:ext cx="605755" cy="601920"/>
          </a:xfrm>
          <a:prstGeom prst="ellipse">
            <a:avLst/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8"/>
          <p:cNvSpPr/>
          <p:nvPr/>
        </p:nvSpPr>
        <p:spPr>
          <a:xfrm>
            <a:off x="987480" y="3145680"/>
            <a:ext cx="450595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C9E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9"/>
          <p:cNvSpPr/>
          <p:nvPr/>
        </p:nvSpPr>
        <p:spPr>
          <a:xfrm>
            <a:off x="932760" y="3968640"/>
            <a:ext cx="3080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16C9EE"/>
                </a:solidFill>
                <a:effectLst/>
                <a:uFillTx/>
                <a:latin typeface="Inter"/>
                <a:ea typeface="Inter"/>
              </a:rPr>
              <a:t>ONDAS POR RUNNER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0"/>
          <p:cNvSpPr/>
          <p:nvPr/>
        </p:nvSpPr>
        <p:spPr>
          <a:xfrm>
            <a:off x="932760" y="4526280"/>
            <a:ext cx="29062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Runner liberado quando todos saem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1"/>
          <p:cNvSpPr/>
          <p:nvPr/>
        </p:nvSpPr>
        <p:spPr>
          <a:xfrm>
            <a:off x="4535280" y="2551320"/>
            <a:ext cx="3592080" cy="3226320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2"/>
          <p:cNvSpPr/>
          <p:nvPr/>
        </p:nvSpPr>
        <p:spPr>
          <a:xfrm>
            <a:off x="4791600" y="2935080"/>
            <a:ext cx="605755" cy="601920"/>
          </a:xfrm>
          <a:prstGeom prst="ellipse">
            <a:avLst/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3"/>
          <p:cNvSpPr/>
          <p:nvPr/>
        </p:nvSpPr>
        <p:spPr>
          <a:xfrm>
            <a:off x="4864680" y="3145680"/>
            <a:ext cx="450595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4"/>
          <p:cNvSpPr/>
          <p:nvPr/>
        </p:nvSpPr>
        <p:spPr>
          <a:xfrm>
            <a:off x="4809600" y="3968640"/>
            <a:ext cx="3080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LICENÇAS POR HORA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4809600" y="4526280"/>
            <a:ext cx="29062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Runners pequenos e simples primeiro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6"/>
          <p:cNvSpPr/>
          <p:nvPr/>
        </p:nvSpPr>
        <p:spPr>
          <a:xfrm>
            <a:off x="8412480" y="2551320"/>
            <a:ext cx="3592080" cy="3226320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1016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7"/>
          <p:cNvSpPr/>
          <p:nvPr/>
        </p:nvSpPr>
        <p:spPr>
          <a:xfrm>
            <a:off x="8668440" y="2935080"/>
            <a:ext cx="605755" cy="601920"/>
          </a:xfrm>
          <a:prstGeom prst="ellipse">
            <a:avLst/>
          </a:prstGeom>
          <a:solidFill>
            <a:srgbClr val="FFF0F8"/>
          </a:solidFill>
          <a:ln w="12700">
            <a:solidFill>
              <a:srgbClr val="FFF0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8"/>
          <p:cNvSpPr/>
          <p:nvPr/>
        </p:nvSpPr>
        <p:spPr>
          <a:xfrm>
            <a:off x="8741520" y="3145680"/>
            <a:ext cx="450595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9"/>
          <p:cNvSpPr/>
          <p:nvPr/>
        </p:nvSpPr>
        <p:spPr>
          <a:xfrm>
            <a:off x="8686800" y="3968640"/>
            <a:ext cx="3080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E94FA5"/>
                </a:solidFill>
                <a:effectLst/>
                <a:uFillTx/>
                <a:latin typeface="Inter"/>
                <a:ea typeface="Inter"/>
              </a:rPr>
              <a:t>TIME ESCALÁVEL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0"/>
          <p:cNvSpPr/>
          <p:nvPr/>
        </p:nvSpPr>
        <p:spPr>
          <a:xfrm>
            <a:off x="8686800" y="4526280"/>
            <a:ext cx="29062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Tech lead, devs e até 2 QAs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555" name="Shape 1"/>
          <p:cNvSpPr/>
          <p:nvPr/>
        </p:nvSpPr>
        <p:spPr>
          <a:xfrm>
            <a:off x="621720" y="310680"/>
            <a:ext cx="1298520" cy="360"/>
          </a:xfrm>
          <a:prstGeom prst="line">
            <a:avLst/>
          </a:prstGeom>
          <a:ln w="3175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"/>
          <p:cNvSpPr/>
          <p:nvPr/>
        </p:nvSpPr>
        <p:spPr>
          <a:xfrm>
            <a:off x="1920240" y="310680"/>
            <a:ext cx="493560" cy="360"/>
          </a:xfrm>
          <a:prstGeom prst="line">
            <a:avLst/>
          </a:prstGeom>
          <a:ln w="3175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3"/>
          <p:cNvSpPr/>
          <p:nvPr/>
        </p:nvSpPr>
        <p:spPr>
          <a:xfrm>
            <a:off x="2413800" y="310680"/>
            <a:ext cx="347400" cy="360"/>
          </a:xfrm>
          <a:prstGeom prst="line">
            <a:avLst/>
          </a:prstGeom>
          <a:ln w="3175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4"/>
          <p:cNvSpPr/>
          <p:nvPr/>
        </p:nvSpPr>
        <p:spPr>
          <a:xfrm>
            <a:off x="11155680" y="0"/>
            <a:ext cx="1033200" cy="1023840"/>
          </a:xfrm>
          <a:prstGeom prst="line">
            <a:avLst/>
          </a:prstGeom>
          <a:ln w="12700">
            <a:solidFill>
              <a:srgbClr val="16C9EE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5"/>
          <p:cNvSpPr/>
          <p:nvPr/>
        </p:nvSpPr>
        <p:spPr>
          <a:xfrm>
            <a:off x="10945080" y="0"/>
            <a:ext cx="1243800" cy="1234440"/>
          </a:xfrm>
          <a:prstGeom prst="line">
            <a:avLst/>
          </a:prstGeom>
          <a:ln w="12700">
            <a:solidFill>
              <a:srgbClr val="7467DC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Image 0" descr="/mnt/data/tokyo-skyline.png"/>
          <p:cNvPicPr/>
          <p:nvPr/>
        </p:nvPicPr>
        <p:blipFill>
          <a:blip r:embed="rId2">
            <a:alphaModFix amt="68000"/>
          </a:blip>
          <a:stretch/>
        </p:blipFill>
        <p:spPr>
          <a:xfrm>
            <a:off x="5212080" y="4617720"/>
            <a:ext cx="7130880" cy="19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Shape 6"/>
          <p:cNvSpPr/>
          <p:nvPr/>
        </p:nvSpPr>
        <p:spPr>
          <a:xfrm>
            <a:off x="694800" y="649080"/>
            <a:ext cx="2257200" cy="300240"/>
          </a:xfrm>
          <a:prstGeom prst="roundRect">
            <a:avLst>
              <a:gd name="adj" fmla="val 45455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7"/>
          <p:cNvSpPr/>
          <p:nvPr/>
        </p:nvSpPr>
        <p:spPr>
          <a:xfrm>
            <a:off x="831960" y="690480"/>
            <a:ext cx="19828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pc="119" strike="noStrike">
                <a:solidFill>
                  <a:srgbClr val="138FBF"/>
                </a:solidFill>
                <a:effectLst/>
                <a:uFillTx/>
                <a:latin typeface="Inter"/>
                <a:ea typeface="Inter"/>
              </a:rPr>
              <a:t>TCS  /  ITAÚ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8"/>
          <p:cNvSpPr/>
          <p:nvPr/>
        </p:nvSpPr>
        <p:spPr>
          <a:xfrm>
            <a:off x="667440" y="1581840"/>
            <a:ext cx="1033128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0" b="1" u="none" strike="noStrike">
                <a:solidFill>
                  <a:srgbClr val="17233B"/>
                </a:solidFill>
                <a:effectLst/>
                <a:uFillTx/>
                <a:latin typeface="Inter"/>
                <a:ea typeface="Inter"/>
              </a:rPr>
              <a:t>Obrigado.</a:t>
            </a:r>
            <a:endParaRPr lang="en-US" sz="7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9"/>
          <p:cNvSpPr/>
          <p:nvPr/>
        </p:nvSpPr>
        <p:spPr>
          <a:xfrm>
            <a:off x="713160" y="2980800"/>
            <a:ext cx="949932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7467DC"/>
                </a:solidFill>
                <a:effectLst/>
                <a:uFillTx/>
                <a:latin typeface="Inter"/>
                <a:ea typeface="Inter"/>
              </a:rPr>
              <a:t>Let’s build what comes next.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0"/>
          <p:cNvSpPr/>
          <p:nvPr/>
        </p:nvSpPr>
        <p:spPr>
          <a:xfrm>
            <a:off x="749520" y="3949920"/>
            <a:ext cx="1602000" cy="360"/>
          </a:xfrm>
          <a:prstGeom prst="line">
            <a:avLst/>
          </a:prstGeom>
          <a:ln w="38100">
            <a:solidFill>
              <a:srgbClr val="16C9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1"/>
          <p:cNvSpPr/>
          <p:nvPr/>
        </p:nvSpPr>
        <p:spPr>
          <a:xfrm>
            <a:off x="2351520" y="3949920"/>
            <a:ext cx="1001520" cy="360"/>
          </a:xfrm>
          <a:prstGeom prst="line">
            <a:avLst/>
          </a:prstGeom>
          <a:ln w="38100">
            <a:solidFill>
              <a:srgbClr val="746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2"/>
          <p:cNvSpPr/>
          <p:nvPr/>
        </p:nvSpPr>
        <p:spPr>
          <a:xfrm>
            <a:off x="3353040" y="3949920"/>
            <a:ext cx="734040" cy="360"/>
          </a:xfrm>
          <a:prstGeom prst="line">
            <a:avLst/>
          </a:prstGeom>
          <a:ln w="38100">
            <a:solidFill>
              <a:srgbClr val="E94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3"/>
          <p:cNvSpPr/>
          <p:nvPr/>
        </p:nvSpPr>
        <p:spPr>
          <a:xfrm>
            <a:off x="758880" y="4316040"/>
            <a:ext cx="863964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11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E-mail: [seu e-mail]  •  Contato: [seu contato]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4"/>
          <p:cNvSpPr/>
          <p:nvPr/>
        </p:nvSpPr>
        <p:spPr>
          <a:xfrm>
            <a:off x="676440" y="6473880"/>
            <a:ext cx="10918080" cy="360"/>
          </a:xfrm>
          <a:prstGeom prst="line">
            <a:avLst/>
          </a:prstGeom>
          <a:ln w="12700">
            <a:solidFill>
              <a:srgbClr val="DF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5"/>
          <p:cNvSpPr/>
          <p:nvPr/>
        </p:nvSpPr>
        <p:spPr>
          <a:xfrm>
            <a:off x="722520" y="6519600"/>
            <a:ext cx="420480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38B"/>
                </a:solidFill>
                <a:effectLst/>
                <a:uFillTx/>
                <a:latin typeface="Inter"/>
                <a:ea typeface="Inter"/>
              </a:rPr>
              <a:t>Building on belief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LibreOffice/26.8.1.1$Linux_X86_64 LibreOffice_project/680$Build-1</Application>
  <AppVersion>15.0000</AppVersion>
  <Words>0</Words>
  <Paragraphs>0</Paragraphs>
  <Company>TCS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2026-10-26T16:02:02Z</dcterms:created>
  <dc:creator>TCS • Tokyo Light redesign</dc:creator>
  <dc:description/>
  <dc:language>en-US</dc:language>
  <cp:lastModifiedBy/>
  <dcterms:modified xsi:type="dcterms:W3CDTF">2026-10-27T19:53:46Z</dcterms:modified>
  <cp:revision>178</cp:revision>
  <dc:subject>Tokyo Light — refreshed presentation template</dc:subject>
  <dc:title>TCS | AI &amp; Cloud — Tokyo Light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Widescreen</vt:lpwstr>
  </property>
  <property fmtid="{D5CDD505-2E9C-101B-9397-08002B2CF9AE}" pid="4" name="Slides">
    <vt:i4>40</vt:i4>
  </property>
</Properties>
</file>